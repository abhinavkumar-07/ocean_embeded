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452D4D-DECD-EF9D-E686-DD20E3D42022}"/>
              </a:ext>
            </a:extLst>
          </p:cNvPr>
          <p:cNvSpPr/>
          <p:nvPr/>
        </p:nvSpPr>
        <p:spPr>
          <a:xfrm>
            <a:off x="1270000" y="1524000"/>
            <a:ext cx="9652000" cy="762000"/>
          </a:xfrm>
          <a:prstGeom prst="roundRect">
            <a:avLst/>
          </a:prstGeom>
          <a:gradFill flip="none" rotWithShape="1">
            <a:gsLst>
              <a:gs pos="0">
                <a:srgbClr val="3B82F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SURFACE OCEAN OBSERVATIONS (SST | SSS | SSH | Current | Wind)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983EA28E-D9C1-FB59-FB09-3B22683F849C}"/>
              </a:ext>
            </a:extLst>
          </p:cNvPr>
          <p:cNvSpPr/>
          <p:nvPr/>
        </p:nvSpPr>
        <p:spPr>
          <a:xfrm>
            <a:off x="5969000" y="2349500"/>
            <a:ext cx="254000" cy="381000"/>
          </a:xfrm>
          <a:prstGeom prst="upArrow">
            <a:avLst/>
          </a:prstGeom>
          <a:gradFill flip="none" rotWithShape="1">
            <a:gsLst>
              <a:gs pos="0">
                <a:srgbClr val="96969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8D58A4-2C0A-E336-B84A-88D981690408}"/>
              </a:ext>
            </a:extLst>
          </p:cNvPr>
          <p:cNvSpPr/>
          <p:nvPr/>
        </p:nvSpPr>
        <p:spPr>
          <a:xfrm>
            <a:off x="1270000" y="2794000"/>
            <a:ext cx="9652000" cy="762000"/>
          </a:xfrm>
          <a:prstGeom prst="roundRect">
            <a:avLst/>
          </a:prstGeom>
          <a:gradFill flip="none" rotWithShape="1">
            <a:gsLst>
              <a:gs pos="0">
                <a:srgbClr val="8B5CF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OCEAN EMBEDDING ENGINE (Spatial Features | Temporal Context | Latent Space)</a:t>
            </a:r>
            <a:endParaRPr lang="en-IN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6EF901E4-710D-0D07-E012-55FDBF4AE1F0}"/>
              </a:ext>
            </a:extLst>
          </p:cNvPr>
          <p:cNvSpPr/>
          <p:nvPr/>
        </p:nvSpPr>
        <p:spPr>
          <a:xfrm>
            <a:off x="5969000" y="3619500"/>
            <a:ext cx="254000" cy="381000"/>
          </a:xfrm>
          <a:prstGeom prst="upArrow">
            <a:avLst/>
          </a:prstGeom>
          <a:gradFill flip="none" rotWithShape="1">
            <a:gsLst>
              <a:gs pos="0">
                <a:srgbClr val="96969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18E519-CD5B-9FE8-894C-61EFFF640387}"/>
              </a:ext>
            </a:extLst>
          </p:cNvPr>
          <p:cNvSpPr/>
          <p:nvPr/>
        </p:nvSpPr>
        <p:spPr>
          <a:xfrm>
            <a:off x="1270000" y="4064000"/>
            <a:ext cx="9652000" cy="762000"/>
          </a:xfrm>
          <a:prstGeom prst="roundRect">
            <a:avLst/>
          </a:prstGeom>
          <a:gradFill flip="none" rotWithShape="1">
            <a:gsLst>
              <a:gs pos="0">
                <a:srgbClr val="10B981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SUBSURFACE TEMPERATURE (15 DEPTH LEVELS | 0m -&gt; 1000m)</a:t>
            </a:r>
            <a:endParaRPr lang="en-IN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B62E846-E252-E4C5-222A-21311CE34C05}"/>
              </a:ext>
            </a:extLst>
          </p:cNvPr>
          <p:cNvSpPr/>
          <p:nvPr/>
        </p:nvSpPr>
        <p:spPr>
          <a:xfrm>
            <a:off x="1270000" y="5334000"/>
            <a:ext cx="9652000" cy="508000"/>
          </a:xfrm>
          <a:prstGeom prst="roundRect">
            <a:avLst/>
          </a:prstGeom>
          <a:gradFill flip="none" rotWithShape="1">
            <a:gsLst>
              <a:gs pos="0">
                <a:srgbClr val="04080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OceanEmbed combines: SPATIAL REPRESENTATION + TEMPORAL CONTEXT + DEPTH-AWARE DECODING</a:t>
            </a:r>
            <a:endParaRPr lang="en-IN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797FC5C-9851-A7F4-970F-F3F31369FACB}"/>
              </a:ext>
            </a:extLst>
          </p:cNvPr>
          <p:cNvSpPr/>
          <p:nvPr/>
        </p:nvSpPr>
        <p:spPr>
          <a:xfrm>
            <a:off x="1270000" y="1270000"/>
            <a:ext cx="9652000" cy="571500"/>
          </a:xfrm>
          <a:prstGeom prst="roundRect">
            <a:avLst/>
          </a:prstGeom>
          <a:gradFill flip="none" rotWithShape="1">
            <a:gsLst>
              <a:gs pos="0">
                <a:srgbClr val="3B82F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DATA INGESTION LAYER</a:t>
            </a:r>
          </a:p>
          <a:p>
            <a:pPr algn="ctr"/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Satellite Observations (SST | SSS | SSH/SLA | Current U/V | Wind U/V)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176B7B0C-06BB-9039-F3B6-ADDE2411AA28}"/>
              </a:ext>
            </a:extLst>
          </p:cNvPr>
          <p:cNvSpPr/>
          <p:nvPr/>
        </p:nvSpPr>
        <p:spPr>
          <a:xfrm>
            <a:off x="5969000" y="1879600"/>
            <a:ext cx="254000" cy="254000"/>
          </a:xfrm>
          <a:prstGeom prst="upArrow">
            <a:avLst/>
          </a:prstGeom>
          <a:gradFill flip="none" rotWithShape="1">
            <a:gsLst>
              <a:gs pos="0">
                <a:srgbClr val="96969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0282CD-5527-9C09-CC7F-EE8A70EB68BB}"/>
              </a:ext>
            </a:extLst>
          </p:cNvPr>
          <p:cNvSpPr/>
          <p:nvPr/>
        </p:nvSpPr>
        <p:spPr>
          <a:xfrm>
            <a:off x="1270000" y="2159000"/>
            <a:ext cx="9652000" cy="571500"/>
          </a:xfrm>
          <a:prstGeom prst="roundRect">
            <a:avLst/>
          </a:prstGeom>
          <a:gradFill flip="none" rotWithShape="1">
            <a:gsLst>
              <a:gs pos="0">
                <a:srgbClr val="3B82F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DATA HARMONIZATION ENGINE</a:t>
            </a:r>
          </a:p>
          <a:p>
            <a:pPr algn="ctr"/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QC | Coordinate Normalization | Regridding (0.25Â°) | Missing-Data Masks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4123B42E-0C17-56FD-481A-9B53376BC283}"/>
              </a:ext>
            </a:extLst>
          </p:cNvPr>
          <p:cNvSpPr/>
          <p:nvPr/>
        </p:nvSpPr>
        <p:spPr>
          <a:xfrm>
            <a:off x="5969000" y="2768600"/>
            <a:ext cx="254000" cy="254000"/>
          </a:xfrm>
          <a:prstGeom prst="upArrow">
            <a:avLst/>
          </a:prstGeom>
          <a:gradFill flip="none" rotWithShape="1">
            <a:gsLst>
              <a:gs pos="0">
                <a:srgbClr val="96969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3EA4BB-1585-A8DD-BDE5-1A4482B6B010}"/>
              </a:ext>
            </a:extLst>
          </p:cNvPr>
          <p:cNvSpPr/>
          <p:nvPr/>
        </p:nvSpPr>
        <p:spPr>
          <a:xfrm>
            <a:off x="1270000" y="3048000"/>
            <a:ext cx="9652000" cy="571500"/>
          </a:xfrm>
          <a:prstGeom prst="roundRect">
            <a:avLst/>
          </a:prstGeom>
          <a:gradFill flip="none" rotWithShape="1">
            <a:gsLst>
              <a:gs pos="0">
                <a:srgbClr val="8B5CF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TEMPORAL CONTEXT ENGINE</a:t>
            </a:r>
          </a:p>
          <a:p>
            <a:pPr algn="ctr"/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D-6 -&gt; D-5 -&gt; D-4 -&gt; D-3 -&gt; D-2 -&gt; D-1 -&gt; D</a:t>
            </a:r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32A02363-0CA0-18B8-CC8B-8A301D49B8D3}"/>
              </a:ext>
            </a:extLst>
          </p:cNvPr>
          <p:cNvSpPr/>
          <p:nvPr/>
        </p:nvSpPr>
        <p:spPr>
          <a:xfrm>
            <a:off x="5969000" y="3657600"/>
            <a:ext cx="254000" cy="254000"/>
          </a:xfrm>
          <a:prstGeom prst="upArrow">
            <a:avLst/>
          </a:prstGeom>
          <a:gradFill flip="none" rotWithShape="1">
            <a:gsLst>
              <a:gs pos="0">
                <a:srgbClr val="96969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AB06B0-588F-8E94-958F-C76D701FDB8E}"/>
              </a:ext>
            </a:extLst>
          </p:cNvPr>
          <p:cNvSpPr/>
          <p:nvPr/>
        </p:nvSpPr>
        <p:spPr>
          <a:xfrm>
            <a:off x="1270000" y="3937000"/>
            <a:ext cx="9652000" cy="571500"/>
          </a:xfrm>
          <a:prstGeom prst="roundRect">
            <a:avLst/>
          </a:prstGeom>
          <a:gradFill flip="none" rotWithShape="1">
            <a:gsLst>
              <a:gs pos="0">
                <a:srgbClr val="8B5CF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OCEAN EMBEDDING ENGINE</a:t>
            </a:r>
          </a:p>
          <a:p>
            <a:pPr algn="ctr"/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Spatial Encoder (CNN) -&gt; Temporal Encoder (GRU) -&gt; LATENT EMBEDDING</a:t>
            </a:r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54240B54-33AB-18BD-3972-82CE673AD4EC}"/>
              </a:ext>
            </a:extLst>
          </p:cNvPr>
          <p:cNvSpPr/>
          <p:nvPr/>
        </p:nvSpPr>
        <p:spPr>
          <a:xfrm>
            <a:off x="5969000" y="4546600"/>
            <a:ext cx="254000" cy="254000"/>
          </a:xfrm>
          <a:prstGeom prst="upArrow">
            <a:avLst/>
          </a:prstGeom>
          <a:gradFill flip="none" rotWithShape="1">
            <a:gsLst>
              <a:gs pos="0">
                <a:srgbClr val="96969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4030D4B-9E0F-A62A-1B46-AFAFF76BF238}"/>
              </a:ext>
            </a:extLst>
          </p:cNvPr>
          <p:cNvSpPr/>
          <p:nvPr/>
        </p:nvSpPr>
        <p:spPr>
          <a:xfrm>
            <a:off x="1270000" y="4826000"/>
            <a:ext cx="9652000" cy="571500"/>
          </a:xfrm>
          <a:prstGeom prst="roundRect">
            <a:avLst/>
          </a:prstGeom>
          <a:gradFill flip="none" rotWithShape="1">
            <a:gsLst>
              <a:gs pos="0">
                <a:srgbClr val="F9731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DEPTH-AWARE DECODER</a:t>
            </a:r>
          </a:p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Depth Embeddings (0, 5, 10, 20, 50, 100, 200, 500, 1000m)</a:t>
            </a:r>
            <a:endParaRPr lang="en-IN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E1F5C120-D319-D1DD-FCDD-9FBD49140350}"/>
              </a:ext>
            </a:extLst>
          </p:cNvPr>
          <p:cNvSpPr/>
          <p:nvPr/>
        </p:nvSpPr>
        <p:spPr>
          <a:xfrm>
            <a:off x="5969000" y="5435600"/>
            <a:ext cx="254000" cy="254000"/>
          </a:xfrm>
          <a:prstGeom prst="upArrow">
            <a:avLst/>
          </a:prstGeom>
          <a:gradFill flip="none" rotWithShape="1">
            <a:gsLst>
              <a:gs pos="0">
                <a:srgbClr val="96969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9F1799-3879-C8B9-D5BC-169BAD6A40B0}"/>
              </a:ext>
            </a:extLst>
          </p:cNvPr>
          <p:cNvSpPr/>
          <p:nvPr/>
        </p:nvSpPr>
        <p:spPr>
          <a:xfrm>
            <a:off x="1270000" y="5715000"/>
            <a:ext cx="9652000" cy="571500"/>
          </a:xfrm>
          <a:prstGeom prst="roundRect">
            <a:avLst/>
          </a:prstGeom>
          <a:gradFill flip="none" rotWithShape="1">
            <a:gsLst>
              <a:gs pos="0">
                <a:srgbClr val="10B981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SUBSURFACE OUTPUT &amp; VALIDATION</a:t>
            </a:r>
          </a:p>
          <a:p>
            <a:pPr algn="ctr"/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Daily 0.25Â° Temp Field | Independent ARGO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D73E6E7-127A-640D-CF12-3025ECDDE643}"/>
              </a:ext>
            </a:extLst>
          </p:cNvPr>
          <p:cNvSpPr/>
          <p:nvPr/>
        </p:nvSpPr>
        <p:spPr>
          <a:xfrm>
            <a:off x="1270000" y="1905000"/>
            <a:ext cx="3048000" cy="1016000"/>
          </a:xfrm>
          <a:prstGeom prst="roundRect">
            <a:avLst/>
          </a:prstGeom>
          <a:gradFill flip="none" rotWithShape="1">
            <a:gsLst>
              <a:gs pos="0">
                <a:srgbClr val="3B82F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SATELLITE OBSERVATIONS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181FD3A-0305-E635-1581-D45FC23225EF}"/>
              </a:ext>
            </a:extLst>
          </p:cNvPr>
          <p:cNvSpPr/>
          <p:nvPr/>
        </p:nvSpPr>
        <p:spPr>
          <a:xfrm>
            <a:off x="4572000" y="1905000"/>
            <a:ext cx="3048000" cy="1016000"/>
          </a:xfrm>
          <a:prstGeom prst="roundRect">
            <a:avLst/>
          </a:prstGeom>
          <a:gradFill flip="none" rotWithShape="1">
            <a:gsLst>
              <a:gs pos="0">
                <a:srgbClr val="04080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GLORYS REANALYSIS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DDC315-03E8-E3E6-FBD8-17C5BBE84382}"/>
              </a:ext>
            </a:extLst>
          </p:cNvPr>
          <p:cNvSpPr/>
          <p:nvPr/>
        </p:nvSpPr>
        <p:spPr>
          <a:xfrm>
            <a:off x="7874000" y="1905000"/>
            <a:ext cx="3048000" cy="1016000"/>
          </a:xfrm>
          <a:prstGeom prst="roundRect">
            <a:avLst/>
          </a:prstGeom>
          <a:gradFill flip="none" rotWithShape="1">
            <a:gsLst>
              <a:gs pos="0">
                <a:srgbClr val="10B981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ARGO VALIDATION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38C482-C388-D21C-A9BC-F1E6D88FDBFB}"/>
              </a:ext>
            </a:extLst>
          </p:cNvPr>
          <p:cNvSpPr/>
          <p:nvPr/>
        </p:nvSpPr>
        <p:spPr>
          <a:xfrm>
            <a:off x="4572000" y="3556000"/>
            <a:ext cx="3048000" cy="762000"/>
          </a:xfrm>
          <a:prstGeom prst="roundRect">
            <a:avLst/>
          </a:prstGeom>
          <a:gradFill flip="none" rotWithShape="1">
            <a:gsLst>
              <a:gs pos="0">
                <a:srgbClr val="8B5CF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DEEP LEARNING RECONSTRUCTION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168A83-B023-D4DD-F307-2A3090152555}"/>
              </a:ext>
            </a:extLst>
          </p:cNvPr>
          <p:cNvSpPr/>
          <p:nvPr/>
        </p:nvSpPr>
        <p:spPr>
          <a:xfrm>
            <a:off x="4572000" y="4953000"/>
            <a:ext cx="3048000" cy="762000"/>
          </a:xfrm>
          <a:prstGeom prst="roundRect">
            <a:avLst/>
          </a:prstGeom>
          <a:gradFill flip="none" rotWithShape="1">
            <a:gsLst>
              <a:gs pos="0">
                <a:srgbClr val="10B981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SUBSURFACE TEMPERATURE FIELD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439</Words>
  <Application>Microsoft Office PowerPoint</Application>
  <PresentationFormat>Widescreen</PresentationFormat>
  <Paragraphs>74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Abhinav kumar</cp:lastModifiedBy>
  <cp:revision>148</cp:revision>
  <dcterms:created xsi:type="dcterms:W3CDTF">2013-12-12T18:46:50Z</dcterms:created>
  <dcterms:modified xsi:type="dcterms:W3CDTF">2026-09-04T12:32:16Z</dcterms:modified>
  <cp:category/>
</cp:coreProperties>
</file>